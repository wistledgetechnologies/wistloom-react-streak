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-2011680"/>
            <a:ext cx="5486400" cy="548640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-1005840"/>
            <a:ext cx="3474720" cy="347472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24160" y="45720"/>
            <a:ext cx="1828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🌐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548640" y="457200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57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 •  NO CODING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05156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8640" y="16002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</a:t>
            </a:r>
            <a:endParaRPr lang="en-US" sz="5400" dirty="0"/>
          </a:p>
        </p:txBody>
      </p:sp>
      <p:sp>
        <p:nvSpPr>
          <p:cNvPr id="10" name="Shape 8"/>
          <p:cNvSpPr/>
          <p:nvPr/>
        </p:nvSpPr>
        <p:spPr>
          <a:xfrm>
            <a:off x="548640" y="2514600"/>
            <a:ext cx="1097280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74320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Internet really works — domains, IPs, servers &amp; browsers.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749040"/>
            <a:ext cx="2148840" cy="96012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8404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DURATION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31520" y="41148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– 90 mins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880360" y="3749040"/>
            <a:ext cx="2148840" cy="96012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63240" y="38404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GOAL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063240" y="41148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web in plain words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212080" y="3749040"/>
            <a:ext cx="2148840" cy="96012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94960" y="38404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👩‍🏫  FOR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394960" y="4114800"/>
            <a:ext cx="1783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beginners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512064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reference for classroom projection  •  Press F5 to present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548640" y="5532120"/>
            <a:ext cx="3108960" cy="502920"/>
          </a:xfrm>
          <a:prstGeom prst="roundRect">
            <a:avLst>
              <a:gd name="adj" fmla="val 4909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5532120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  START WITH A QUESTION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794760" y="553212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“What sites did you use today?”  →  Write answers on board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 •  DAY 1: HOW THE WEB WORKS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/ 15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 •  DAY 1: HOW THE WEB WORKS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 •  TODAY'S JOURNEY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big question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you type google.com and press Enter?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029968"/>
            <a:ext cx="4572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7627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INTERNET vs WEB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51460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Roads vs places.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they are not the same.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51960" y="182880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80560" y="2029968"/>
            <a:ext cx="457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0560" y="217627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ADDRESSES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80560" y="251460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numbers, domains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the DNS phonebook.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46720" y="182880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75320" y="2029968"/>
            <a:ext cx="4572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75320" y="217627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THE PLAYERS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75320" y="251460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Client, server,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+ URL.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06908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4270248"/>
            <a:ext cx="4572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441655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THE JOURNEY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" y="475488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steps from Enter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page on screen.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251960" y="406908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0560" y="4270248"/>
            <a:ext cx="4572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0" y="441655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RULES + HOME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480560" y="475488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/ HTTPS,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&amp; safety.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046720" y="406908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75320" y="4270248"/>
            <a:ext cx="457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75320" y="441655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WORD BANK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275320" y="4754880"/>
            <a:ext cx="3063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words you must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confuse again.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 •  DAY 1: HOW THE WEB WORKS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01  •  FOUNDATION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≠ Web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confused idea — fix it on Day 1.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532120" cy="3566160"/>
          </a:xfrm>
          <a:prstGeom prst="roundRect">
            <a:avLst>
              <a:gd name="adj" fmla="val 307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029968"/>
            <a:ext cx="4572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76272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🛣  INTERNET — The Roads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2514600"/>
            <a:ext cx="50749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physical global network.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Undersea cables + fibre + towers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Routers, WiFi, mobile data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Millions of connected computers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users: email, WhatsApp calls,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games, Netflix — not just web pages.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99632" y="1828800"/>
            <a:ext cx="5532120" cy="3566160"/>
          </a:xfrm>
          <a:prstGeom prst="roundRect">
            <a:avLst>
              <a:gd name="adj" fmla="val 307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28232" y="2029968"/>
            <a:ext cx="457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8232" y="2176272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 WEB — The Places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28232" y="2514600"/>
            <a:ext cx="5074920" cy="2697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Wide Web: pages linked together.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Invented 1989–90 by Tim Berners-Lee.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Websites, images, videos, links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Viewed inside a browser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One service running ON the Internet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trick: Internet = roads.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= houses &amp; shops on roads.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562356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aloud:  “Email uses Internet but is NOT the Web.”  •  Ask: Name 3 things that use Internet but are not websites?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 •  DAY 1: HOW THE WEB WORKS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02  •  HOW YOU GET ONLINE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does internet reach you?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links in a chain — break one, no internet.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2011680" cy="237744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121408"/>
            <a:ext cx="4572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6771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DEVICE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606040"/>
            <a:ext cx="15544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/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28346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2743200" y="1920240"/>
            <a:ext cx="2011680" cy="237744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971800" y="2121408"/>
            <a:ext cx="4572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71800" y="226771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ROUTER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971800" y="2606040"/>
            <a:ext cx="15544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/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data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28346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5029200" y="1920240"/>
            <a:ext cx="2011680" cy="237744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257800" y="2121408"/>
            <a:ext cx="457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57800" y="226771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ISP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57800" y="2606040"/>
            <a:ext cx="15544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MTN, Airtel,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Safaricom…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040880" y="28346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7315200" y="1920240"/>
            <a:ext cx="2011680" cy="237744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543800" y="2121408"/>
            <a:ext cx="457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43800" y="226771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🌊 CABLES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543800" y="2606040"/>
            <a:ext cx="15544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Fibre + towers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countries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326880" y="28346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28" name="Shape 26"/>
          <p:cNvSpPr/>
          <p:nvPr/>
        </p:nvSpPr>
        <p:spPr>
          <a:xfrm>
            <a:off x="9601200" y="1920240"/>
            <a:ext cx="2011680" cy="237744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829800" y="2121408"/>
            <a:ext cx="4572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829800" y="2267712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🏭 DATA CENTER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829800" y="2606040"/>
            <a:ext cx="15544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Buildings full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computers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4572000"/>
            <a:ext cx="11274552" cy="1280160"/>
          </a:xfrm>
          <a:prstGeom prst="roundRect">
            <a:avLst>
              <a:gd name="adj" fmla="val 857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475488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 FOR CLASS  →   Electricity company gives you light. ISP gives you internet. You pay them to connect you to the world.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 •  DAY 1: HOW THE WEB WORKS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03  •  ADDRESSES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 = phone number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computer online has a unique number.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532120" cy="201168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029968"/>
            <a:ext cx="4572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76272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514600"/>
            <a:ext cx="50749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= Internet Protocol.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phone number for computers.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need it to find each other.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99632" y="1828800"/>
            <a:ext cx="5532120" cy="201168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28232" y="2029968"/>
            <a:ext cx="457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8232" y="2176272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28232" y="2514600"/>
            <a:ext cx="507492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142.250.80.46  →  one of Google's computers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8.8.8.8  →  famous Google address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to memorize in 10 seconds. Hard, right?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069080"/>
            <a:ext cx="5532120" cy="1691640"/>
          </a:xfrm>
          <a:prstGeom prst="roundRect">
            <a:avLst>
              <a:gd name="adj" fmla="val 6486"/>
            </a:avLst>
          </a:prstGeom>
          <a:solidFill>
            <a:srgbClr val="1E293B"/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4206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IPv4  •  OLD TYPE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45720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numbers with dots  •  e.g. 192.168.1.1  •  Running out!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99632" y="4069080"/>
            <a:ext cx="5532120" cy="1691640"/>
          </a:xfrm>
          <a:prstGeom prst="roundRect">
            <a:avLst>
              <a:gd name="adj" fmla="val 6486"/>
            </a:avLst>
          </a:prstGeom>
          <a:solidFill>
            <a:srgbClr val="1E293B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8232" y="420624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IPv6  •  NEW TYPE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28232" y="45720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longer  •  Billions more addresses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phones, TVs, watches…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 •  DAY 1: HOW THE WEB WORKS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04  •  HUMAN NAMES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Domain: name humans remember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google.com is easier than 142.250.80.46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74520"/>
            <a:ext cx="11274552" cy="1554480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65960"/>
            <a:ext cx="112745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 . google . com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       main name you rent        extension (.com .org .edu .ng .ke .gh)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370332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3904488"/>
            <a:ext cx="4572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05079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WHY?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4389120"/>
            <a:ext cx="30632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Humans hate numbers.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 are nicknames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IP addresses.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51960" y="370332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480560" y="3904488"/>
            <a:ext cx="457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405079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  EXTENSIONS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80560" y="4389120"/>
            <a:ext cx="30632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.com company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.org / .edu / .gov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.ng .ke .gh = country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46720" y="3703320"/>
            <a:ext cx="3520440" cy="2011680"/>
          </a:xfrm>
          <a:prstGeom prst="roundRect">
            <a:avLst>
              <a:gd name="adj" fmla="val 545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75320" y="3904488"/>
            <a:ext cx="4572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75320" y="405079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HOW TO OWN?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75320" y="4389120"/>
            <a:ext cx="30632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RENT per year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registrar.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paying = lose it.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 •  DAY 1: HOW THE WEB WORKS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05  •  THE PHONEBOOK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finds the number for you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Name System — the phonebook of the Internet.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2011680"/>
            <a:ext cx="3017520" cy="219456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194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YOU TYPE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265176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google.com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browser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40480" y="2834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4389120" y="2011680"/>
            <a:ext cx="3017520" cy="219456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2194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DNS ANSWERS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0" y="265176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 is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142.250.80.46”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406640" y="28346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7955280" y="2011680"/>
            <a:ext cx="3017520" cy="2194560"/>
          </a:xfrm>
          <a:prstGeom prst="roundRect">
            <a:avLst>
              <a:gd name="adj" fmla="val 6250"/>
            </a:avLst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38160" y="219456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BROWSER GOES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38160" y="265176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to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computer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57200" y="4526280"/>
            <a:ext cx="11274552" cy="123444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70916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PHONE ANALOGY  →  You tap “Mummy”. Phone dials the real number. DNS does the same: you type a name, it finds the number.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 •  DAY 1: HOW THE WEB WORKS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06  •  FULL ADDRESS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= full address, domain = part of it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confuse them again.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11274552" cy="1737360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65960"/>
            <a:ext cx="112745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  www.school.com  /about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57200" y="26974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rules        website to visit           which page inside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06324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 =  secure communication      •      school.com  =  domain      •      /about  =  page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4041648"/>
            <a:ext cx="4572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418795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EXAMPLE 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" y="4526280"/>
            <a:ext cx="3063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google.com = domain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long text in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bar = URL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206240" y="384048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34840" y="4041648"/>
            <a:ext cx="457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34840" y="418795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EXAMPLE 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34840" y="4526280"/>
            <a:ext cx="30632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school.com/about =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school site,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About page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955280" y="3840480"/>
            <a:ext cx="3776472" cy="1920240"/>
          </a:xfrm>
          <a:prstGeom prst="roundRect">
            <a:avLst>
              <a:gd name="adj" fmla="val 5714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83880" y="4041648"/>
            <a:ext cx="4572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83880" y="4187952"/>
            <a:ext cx="3319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COMMON MISTAKE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183880" y="4526280"/>
            <a:ext cx="331927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Saying URL when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mean domain.</a:t>
            </a:r>
            <a:endParaRPr lang="en-US" sz="9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it today!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 •  DAY 1: HOW THE WEB WORKS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/ 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07  •  THE THREE PLAYERS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story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orders • Browser serves • Server cooks.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3520440" cy="2926080"/>
          </a:xfrm>
          <a:prstGeom prst="roundRect">
            <a:avLst>
              <a:gd name="adj" fmla="val 375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029968"/>
            <a:ext cx="4572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7627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🧑‍💻 CLIENT — Customer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85800" y="2514600"/>
            <a:ext cx="30632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phone / laptop.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that ASKS.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want the homepage,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please.”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206240" y="1828800"/>
            <a:ext cx="3520440" cy="2926080"/>
          </a:xfrm>
          <a:prstGeom prst="roundRect">
            <a:avLst>
              <a:gd name="adj" fmla="val 375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2029968"/>
            <a:ext cx="457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34840" y="217627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🤵 BROWSER — Waiter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434840" y="2514600"/>
            <a:ext cx="306324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Chrome, Edge, Firefox,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Safari.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request out,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page back,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it nicely.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955280" y="1828800"/>
            <a:ext cx="3776472" cy="2926080"/>
          </a:xfrm>
          <a:prstGeom prst="roundRect">
            <a:avLst>
              <a:gd name="adj" fmla="val 375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3880" y="2029968"/>
            <a:ext cx="4572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183880" y="2176272"/>
            <a:ext cx="33192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👨‍🍳 SERVER — Kitchen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83880" y="2514600"/>
            <a:ext cx="3319272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 computer,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ON.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sites, waits,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pages back.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983480"/>
            <a:ext cx="11274552" cy="914400"/>
          </a:xfrm>
          <a:prstGeom prst="roundRect">
            <a:avLst>
              <a:gd name="adj" fmla="val 20000"/>
            </a:avLst>
          </a:prstGeom>
          <a:solidFill>
            <a:srgbClr val="7C2D12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50749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Google is NOT a browser. Chrome is the browser. Google Search is a website. Say it with class 3 times!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 •  DAY 1: HOW THE WEB WORKS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08  •  MOST IMPORTANT SLIDE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press Enter — what happens?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steps. Learn this by heart.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960120" y="1965960"/>
            <a:ext cx="548640" cy="5486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432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306324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turns name → IP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011680" y="3291840"/>
            <a:ext cx="822960" cy="45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880360" y="1965960"/>
            <a:ext cx="548640" cy="5486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88036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377440" y="26517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77440" y="27432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468880" y="306324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via ISP + Internet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931920" y="3291840"/>
            <a:ext cx="822960" cy="45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196596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297680" y="26517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0" y="27432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389120" y="306324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asks: send homepage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852160" y="3291840"/>
            <a:ext cx="822960" cy="45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720840" y="196596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2084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217920" y="26517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0" y="27432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09360" y="306324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finds the files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7772400" y="3291840"/>
            <a:ext cx="822960" cy="45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641080" y="1965960"/>
            <a:ext cx="548640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64108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138160" y="26517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138160" y="27432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229600" y="306324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Comes back in packets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9692640" y="3291840"/>
            <a:ext cx="822960" cy="4572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561320" y="1965960"/>
            <a:ext cx="548640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61320" y="1965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10058400" y="2651760"/>
            <a:ext cx="1554480" cy="1554480"/>
          </a:xfrm>
          <a:prstGeom prst="roundRect">
            <a:avLst>
              <a:gd name="adj" fmla="val 7059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058400" y="274320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149840" y="306324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shows the page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57200" y="452628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Packets = pizza sliced for delivery, joined back on arrival  •  404 = server OK, but that page not found  •  No network = chain broken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457200" y="5166360"/>
            <a:ext cx="11274552" cy="960120"/>
          </a:xfrm>
          <a:prstGeom prst="roundRect">
            <a:avLst>
              <a:gd name="adj" fmla="val 11429"/>
            </a:avLst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530352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 IT:  Your Device  →  ISP  →  Internet  →  DNS  →  Server  →  back to You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 •  DAY 1: HOW THE WEB WORKS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09  •  RULES OF TALKING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vs HTTPS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Postcard vs locked box.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5532120" cy="2834640"/>
          </a:xfrm>
          <a:prstGeom prst="roundRect">
            <a:avLst>
              <a:gd name="adj" fmla="val 387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029968"/>
            <a:ext cx="457200" cy="54864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76272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  HTTP — Postcard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2514600"/>
            <a:ext cx="50749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HyperText Transfer Protocol.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Agreed language browser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server use to talk.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on the way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read it.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type passwords here.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199632" y="1828800"/>
            <a:ext cx="5532120" cy="2834640"/>
          </a:xfrm>
          <a:prstGeom prst="roundRect">
            <a:avLst>
              <a:gd name="adj" fmla="val 387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28232" y="2029968"/>
            <a:ext cx="4572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28232" y="2176272"/>
            <a:ext cx="5074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HTTPS — Locked Box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28232" y="2514600"/>
            <a:ext cx="50749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rules + Secure.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 encrypted.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you + server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open it.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for padlock + https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address bar.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4937760"/>
            <a:ext cx="112745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demo: open a site, click the padlock icon. What does it say? Do it together now.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 •  DAY 1: HOW THE WEB WORKS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10  •  WHERE SITES LIVE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 websites live?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on your laptop — on always-ON computers.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11274552" cy="1188720"/>
          </a:xfrm>
          <a:prstGeom prst="roundRect">
            <a:avLst>
              <a:gd name="adj" fmla="val 9231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1168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build on your laptop and switch it OFF — can the world still see it?  NO.  →  That is why we need HOSTING.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29184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3493008"/>
            <a:ext cx="4572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63931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SHARED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97764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room in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house.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Cheap, small sites.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251960" y="329184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480560" y="3493008"/>
            <a:ext cx="457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0560" y="363931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VPS / DEDICATED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480560" y="397764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flat / house.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power,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cost.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46720" y="3291840"/>
            <a:ext cx="3520440" cy="20574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75320" y="3493008"/>
            <a:ext cx="4572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75320" y="363931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 CLOUD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75320" y="3977640"/>
            <a:ext cx="30632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Grows automatically.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Netflix, banks,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Jumia use it.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57200" y="553212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= renting space on always-on computers  •  Data center = building full of those computers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 •  DAY 1: HOW THE WEB WORKS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BANK  •  NEVER CONFUSE AGAIN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you must get right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 each pair aloud with examples.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2670048" cy="2834640"/>
          </a:xfrm>
          <a:prstGeom prst="roundRect">
            <a:avLst>
              <a:gd name="adj" fmla="val 411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029968"/>
            <a:ext cx="4572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76272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PAGE vs SITE vs APP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2514600"/>
            <a:ext cx="2212848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= 1 page.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= whole book.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= you can log in, buy, chat.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10128" y="1828800"/>
            <a:ext cx="2670048" cy="2834640"/>
          </a:xfrm>
          <a:prstGeom prst="roundRect">
            <a:avLst>
              <a:gd name="adj" fmla="val 411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38728" y="2029968"/>
            <a:ext cx="457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38728" y="2176272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BROWSER vs SEARCH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38728" y="2514600"/>
            <a:ext cx="2212848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= Chrome, Firefox.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= Google Search, Bing.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63056" y="1828800"/>
            <a:ext cx="2670048" cy="2834640"/>
          </a:xfrm>
          <a:prstGeom prst="roundRect">
            <a:avLst>
              <a:gd name="adj" fmla="val 411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91656" y="2029968"/>
            <a:ext cx="4572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91656" y="2176272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 STATIC vs DYNAMIC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91656" y="2514600"/>
            <a:ext cx="2212848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= poster, same for all.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= market, changes per user.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15984" y="1828800"/>
            <a:ext cx="2670048" cy="2834640"/>
          </a:xfrm>
          <a:prstGeom prst="roundRect">
            <a:avLst>
              <a:gd name="adj" fmla="val 411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44584" y="2029968"/>
            <a:ext cx="4572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44584" y="2176272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⬇ DOWNLOAD vs UPLOAD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244584" y="2514600"/>
            <a:ext cx="2212848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= server → you.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= you → server.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vs post.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" y="4892040"/>
            <a:ext cx="11274552" cy="1143000"/>
          </a:xfrm>
          <a:prstGeom prst="roundRect">
            <a:avLst>
              <a:gd name="adj" fmla="val 960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507492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= what you see &amp; touch   •   BACKEND = hidden work: passwords, payments, saving data   •   FULL-STACK = does both   →  Details in Week 2–3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 •  DAY 1: HOW THE WEB WORKS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"/>
            <a:ext cx="112745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 •  NO COMPUTERS NEEDED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112745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what you learned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0972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mins: draw, play, discuss.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2670048" cy="3383280"/>
          </a:xfrm>
          <a:prstGeom prst="roundRect">
            <a:avLst>
              <a:gd name="adj" fmla="val 411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029968"/>
            <a:ext cx="457200" cy="54864"/>
          </a:xfrm>
          <a:prstGeom prst="rect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176272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 ACT 1: DRAW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514600"/>
            <a:ext cx="2212848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Draw: Me → ISP →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→ DNS →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→ back to Me.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each part.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10128" y="1828800"/>
            <a:ext cx="2670048" cy="3383280"/>
          </a:xfrm>
          <a:prstGeom prst="roundRect">
            <a:avLst>
              <a:gd name="adj" fmla="val 411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38728" y="2029968"/>
            <a:ext cx="4572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38728" y="2176272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🎭 ACT 2: PLAY DNS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38728" y="2514600"/>
            <a:ext cx="2212848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student = DNS.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shouts domain.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 shouts back IP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card.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63056" y="1828800"/>
            <a:ext cx="2670048" cy="3383280"/>
          </a:xfrm>
          <a:prstGeom prst="roundRect">
            <a:avLst>
              <a:gd name="adj" fmla="val 411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91656" y="2029968"/>
            <a:ext cx="4572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91656" y="2176272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ACT 3: SPOT PARTS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91656" y="2514600"/>
            <a:ext cx="2212848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writes 3 URLs.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underline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+ page with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coloured chalk.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015984" y="1828800"/>
            <a:ext cx="2670048" cy="3383280"/>
          </a:xfrm>
          <a:prstGeom prst="roundRect">
            <a:avLst>
              <a:gd name="adj" fmla="val 4110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44584" y="2029968"/>
            <a:ext cx="4572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44584" y="2176272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HOMEWORK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244584" y="2514600"/>
            <a:ext cx="2212848" cy="2514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Write 5 URLs + domains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ISP at home?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Click padlock icon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Dream domain for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your business idea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54406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next slide is oral — 8/12 in your own words = Day 1 passed ✓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457200"/>
            <a:ext cx="2011680" cy="365760"/>
          </a:xfrm>
          <a:prstGeom prst="roundRect">
            <a:avLst>
              <a:gd name="adj" fmla="val 2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4572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COMPLETE ✓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know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14630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web works.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coding today — and that's OK. Great builders first understand the land before building houses.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6583680" cy="2377440"/>
          </a:xfrm>
          <a:prstGeom prst="roundRect">
            <a:avLst>
              <a:gd name="adj" fmla="val 5769"/>
            </a:avLst>
          </a:prstGeom>
          <a:solidFill>
            <a:srgbClr val="1E293B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83280"/>
            <a:ext cx="6035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WE BUILD →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22960" y="3749040"/>
            <a:ext cx="60350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Structure  →  HTML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2: Beauty  →  CSS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3: Brain  →  JavaScript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4: Go live  →  Deployment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589520" y="731520"/>
            <a:ext cx="3749040" cy="4846320"/>
          </a:xfrm>
          <a:prstGeom prst="roundRect">
            <a:avLst>
              <a:gd name="adj" fmla="val 3659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0" y="100584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 QUIZ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QUESTIONS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772400" y="1783080"/>
            <a:ext cx="33832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Internet vs Web?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is an IP?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Why domains?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What does DNS do?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Domain vs URL?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Browser or search?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Client vs server?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What is HTTPS?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What is hosting?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Steps after Enter?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Page vs site vs app?</a:t>
            </a:r>
            <a:endParaRPr lang="en-US" sz="10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 Download vs upload?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  •  DAY 1: HOW THE WEB WORKS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972800" y="64465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Web Development - Day 1</dc:title>
  <dc:subject>How the Web Works - Visual Reference</dc:subject>
  <dc:creator>Web Dev Teacher</dc:creator>
  <cp:lastModifiedBy>Web Dev Teacher</cp:lastModifiedBy>
  <cp:revision>1</cp:revision>
  <dcterms:created xsi:type="dcterms:W3CDTF">2026-09-15T06:55:09Z</dcterms:created>
  <dcterms:modified xsi:type="dcterms:W3CDTF">2026-09-15T06:55:09Z</dcterms:modified>
</cp:coreProperties>
</file>